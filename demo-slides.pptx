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orizon" charset="1" panose="02000500000000000000"/>
      <p:regular r:id="rId11"/>
    </p:embeddedFont>
    <p:embeddedFont>
      <p:font typeface="Garet" charset="1" panose="00000000000000000000"/>
      <p:regular r:id="rId12"/>
    </p:embeddedFont>
    <p:embeddedFont>
      <p:font typeface="Montserrat Bold" charset="1" panose="00000800000000000000"/>
      <p:regular r:id="rId13"/>
    </p:embeddedFont>
    <p:embeddedFont>
      <p:font typeface="Montserrat" charset="1" panose="00000500000000000000"/>
      <p:regular r:id="rId14"/>
    </p:embeddedFont>
    <p:embeddedFont>
      <p:font typeface="Garet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3066" y="14889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315878" cy="10287000"/>
          </a:xfrm>
          <a:custGeom>
            <a:avLst/>
            <a:gdLst/>
            <a:ahLst/>
            <a:cxnLst/>
            <a:rect r="r" b="b" t="t" l="l"/>
            <a:pathLst>
              <a:path h="10287000" w="18315878">
                <a:moveTo>
                  <a:pt x="0" y="0"/>
                </a:moveTo>
                <a:lnTo>
                  <a:pt x="18315878" y="0"/>
                </a:lnTo>
                <a:lnTo>
                  <a:pt x="183158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845523" y="-778476"/>
            <a:ext cx="6913992" cy="12291542"/>
          </a:xfrm>
          <a:custGeom>
            <a:avLst/>
            <a:gdLst/>
            <a:ahLst/>
            <a:cxnLst/>
            <a:rect r="r" b="b" t="t" l="l"/>
            <a:pathLst>
              <a:path h="12291542" w="6913992">
                <a:moveTo>
                  <a:pt x="6913992" y="0"/>
                </a:moveTo>
                <a:lnTo>
                  <a:pt x="0" y="0"/>
                </a:lnTo>
                <a:lnTo>
                  <a:pt x="0" y="12291542"/>
                </a:lnTo>
                <a:lnTo>
                  <a:pt x="6913992" y="12291542"/>
                </a:lnTo>
                <a:lnTo>
                  <a:pt x="691399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64221" y="47056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87208" y="7544808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9144000" y="0"/>
                </a:moveTo>
                <a:lnTo>
                  <a:pt x="0" y="0"/>
                </a:lnTo>
                <a:lnTo>
                  <a:pt x="0" y="5081602"/>
                </a:lnTo>
                <a:lnTo>
                  <a:pt x="9144000" y="5081602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862" y="168698"/>
            <a:ext cx="9419945" cy="23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4"/>
              </a:lnSpc>
            </a:pPr>
            <a:r>
              <a:rPr lang="en-US" sz="838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VSSA</a:t>
            </a:r>
          </a:p>
          <a:p>
            <a:pPr algn="l">
              <a:lnSpc>
                <a:spcPts val="4359"/>
              </a:lnSpc>
            </a:pPr>
            <a:r>
              <a:rPr lang="en-US" sz="399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VINFAST SMART SALE AGENT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C8911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0" y="2440624"/>
            <a:ext cx="8531183" cy="278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Khách hàng mua xe điện thường bị "ngợp" bởi thông số kỹ thuật, bài toán chi phí thuê pin và các gói vay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2529" y="786714"/>
            <a:ext cx="16913283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89114" y="5739449"/>
            <a:ext cx="7431295" cy="2779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3000" spc="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VSSA là Agent thông minh giúp cá nhân hóa tư vấn 24/7, tự động lập phương án tài chính và chốt lịch lái thử trong 1 phút.</a:t>
            </a:r>
          </a:p>
          <a:p>
            <a:pPr algn="l">
              <a:lnSpc>
                <a:spcPts val="444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04762" y="66324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54538" y="21166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3504806"/>
            <a:ext cx="9694548" cy="6782194"/>
          </a:xfrm>
          <a:custGeom>
            <a:avLst/>
            <a:gdLst/>
            <a:ahLst/>
            <a:cxnLst/>
            <a:rect r="r" b="b" t="t" l="l"/>
            <a:pathLst>
              <a:path h="6782194" w="9694548">
                <a:moveTo>
                  <a:pt x="0" y="0"/>
                </a:moveTo>
                <a:lnTo>
                  <a:pt x="9694548" y="0"/>
                </a:lnTo>
                <a:lnTo>
                  <a:pt x="9694548" y="6782194"/>
                </a:lnTo>
                <a:lnTo>
                  <a:pt x="0" y="6782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C8911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93144" y="-262583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29167">
            <a:off x="12720470" y="-1252892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00279" y="-65666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32939" y="2146081"/>
            <a:ext cx="694162" cy="6941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48420" y="2159850"/>
            <a:ext cx="6257478" cy="90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hỏi: "Tôi có 800 triệu, nhà 4 người, ở chung cư, nên mua xe nào?"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234" y="828625"/>
            <a:ext cx="10454817" cy="1032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2"/>
              </a:lnSpc>
              <a:spcBef>
                <a:spcPct val="0"/>
              </a:spcBef>
            </a:pPr>
            <a:r>
              <a:rPr lang="en-US" b="true" sz="363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  <a:r>
              <a:rPr lang="en-US" b="true" sz="363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1</a:t>
            </a:r>
            <a:r>
              <a:rPr lang="en-US" sz="36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Tư vấn cá nhân hóa dựa trên   ngân sách và nhu cầu thực tế.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1955" y="3708232"/>
            <a:ext cx="10445035" cy="154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  <a:r>
              <a:rPr lang="en-US" b="true" sz="36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2</a:t>
            </a: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Đơn giản hóa dữ liệu tài chính (trả trước, góp tháng).</a:t>
            </a:r>
          </a:p>
          <a:p>
            <a:pPr algn="ctr">
              <a:lnSpc>
                <a:spcPts val="406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88092" y="7038934"/>
            <a:ext cx="11510297" cy="103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  <a:r>
              <a:rPr lang="en-US" b="true" sz="36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3</a:t>
            </a: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Tự động hóa luồng đặt lịch lái thử và tìm kiếm showroom.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48420" y="5197561"/>
            <a:ext cx="7888570" cy="90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hỏi: "Tôi cần hỗ trợ tính toán số tiền cho chương trình trả góp 18 tháng"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48420" y="8366338"/>
            <a:ext cx="7888570" cy="44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hỏi: "Tôi cần lái thử xe ở khu vực Gia Lâm"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97447" y="5065897"/>
            <a:ext cx="694162" cy="69416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44528" y="8121013"/>
            <a:ext cx="694162" cy="69416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97447" y="2124862"/>
            <a:ext cx="173566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AI: VF 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38691" y="4999222"/>
            <a:ext cx="443269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AI: Tool_calculate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17837" y="8099794"/>
            <a:ext cx="421124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AI: Tool_Map_API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C8911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0206" y="0"/>
            <a:ext cx="5207794" cy="9258300"/>
          </a:xfrm>
          <a:custGeom>
            <a:avLst/>
            <a:gdLst/>
            <a:ahLst/>
            <a:cxnLst/>
            <a:rect r="r" b="b" t="t" l="l"/>
            <a:pathLst>
              <a:path h="9258300" w="5207794">
                <a:moveTo>
                  <a:pt x="0" y="0"/>
                </a:moveTo>
                <a:lnTo>
                  <a:pt x="5207794" y="0"/>
                </a:lnTo>
                <a:lnTo>
                  <a:pt x="520779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8446" y="750401"/>
            <a:ext cx="13498906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TECHNICAL STACK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0601195" y="8624124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0" y="0"/>
                </a:moveTo>
                <a:lnTo>
                  <a:pt x="9144000" y="0"/>
                </a:lnTo>
                <a:lnTo>
                  <a:pt x="9144000" y="5081602"/>
                </a:lnTo>
                <a:lnTo>
                  <a:pt x="0" y="508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64221" y="47056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174143" y="-156740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21000" y="2638227"/>
            <a:ext cx="12514306" cy="572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Logic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Sử dụng LangGraph để xây dựng quy trình làm việc dạng đồ thị trạng thái (StateGraph), giúp kiểm soát hội thoại linh hoạt.</a:t>
            </a:r>
          </a:p>
          <a:p>
            <a:pPr algn="l" marL="863599" indent="-431800" lvl="1">
              <a:lnSpc>
                <a:spcPts val="4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Ngôn ngữ &amp; Thư viện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Python 3.12, LangChain Core, OpenAI GPT-4.</a:t>
            </a:r>
          </a:p>
          <a:p>
            <a:pPr algn="l" marL="863599" indent="-431800" lvl="1">
              <a:lnSpc>
                <a:spcPts val="4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Giao diện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Streamlit cung cấp trải nghiệm chat tương tác thời gian thực.</a:t>
            </a:r>
          </a:p>
          <a:p>
            <a:pPr algn="l" marL="863599" indent="-431800" lvl="1">
              <a:lnSpc>
                <a:spcPts val="4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Lưu trữ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SQLite dùng để ghi nhớ ngữ cảnh người dùng (Thread ID).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C8911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05232" y="6663381"/>
            <a:ext cx="18288000" cy="9877425"/>
          </a:xfrm>
          <a:custGeom>
            <a:avLst/>
            <a:gdLst/>
            <a:ahLst/>
            <a:cxnLst/>
            <a:rect r="r" b="b" t="t" l="l"/>
            <a:pathLst>
              <a:path h="9877425" w="18288000">
                <a:moveTo>
                  <a:pt x="0" y="0"/>
                </a:moveTo>
                <a:lnTo>
                  <a:pt x="18288000" y="0"/>
                </a:lnTo>
                <a:lnTo>
                  <a:pt x="18288000" y="9877425"/>
                </a:lnTo>
                <a:lnTo>
                  <a:pt x="0" y="9877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2769" y="444246"/>
            <a:ext cx="11682462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CORE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97597" y="2025767"/>
            <a:ext cx="12892805" cy="740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892" indent="-380446" lvl="1">
              <a:lnSpc>
                <a:spcPts val="4933"/>
              </a:lnSpc>
              <a:buFont typeface="Arial"/>
              <a:buChar char="•"/>
            </a:pPr>
            <a:r>
              <a:rPr lang="en-US" b="true" sz="352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Tư vấn thông minh</a:t>
            </a:r>
            <a:r>
              <a:rPr lang="en-US" sz="352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Tự động lọc xe (VF5, VF7, VF8) theo tiêu chí khách hàng cung cấp.</a:t>
            </a:r>
          </a:p>
          <a:p>
            <a:pPr algn="l" marL="760892" indent="-380446" lvl="1">
              <a:lnSpc>
                <a:spcPts val="4933"/>
              </a:lnSpc>
              <a:buFont typeface="Arial"/>
              <a:buChar char="•"/>
            </a:pPr>
            <a:r>
              <a:rPr lang="en-US" b="true" sz="352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Công cụ tài chính (Calculator)</a:t>
            </a:r>
            <a:r>
              <a:rPr lang="en-US" sz="352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Tính toán chính xác khoản vay dựa trên lãi suất thực tế của ngân hàng đối tác.</a:t>
            </a:r>
          </a:p>
          <a:p>
            <a:pPr algn="l" marL="760892" indent="-380446" lvl="1">
              <a:lnSpc>
                <a:spcPts val="4933"/>
              </a:lnSpc>
              <a:buFont typeface="Arial"/>
              <a:buChar char="•"/>
            </a:pPr>
            <a:r>
              <a:rPr lang="en-US" b="true" sz="352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Tìm kiếm &amp; Đặt lịch</a:t>
            </a:r>
            <a:r>
              <a:rPr lang="en-US" sz="352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Tích hợp dữ liệu showroom và khung giờ trống để chốt lịch lái thử ngay trong hội thoại.</a:t>
            </a:r>
          </a:p>
          <a:p>
            <a:pPr algn="l" marL="760892" indent="-380446" lvl="1">
              <a:lnSpc>
                <a:spcPts val="4933"/>
              </a:lnSpc>
              <a:buFont typeface="Arial"/>
              <a:buChar char="•"/>
            </a:pPr>
            <a:r>
              <a:rPr lang="en-US" b="true" sz="352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Data Flywheel</a:t>
            </a:r>
            <a:r>
              <a:rPr lang="en-US" sz="352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Hệ thống học hỏi từ các tương tác (như thay đổi tỷ lệ vay trên thanh slider) để áp dụng cho lần chat sau.</a:t>
            </a:r>
          </a:p>
          <a:p>
            <a:pPr algn="l">
              <a:lnSpc>
                <a:spcPts val="493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654538" y="-37814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73257" y="327639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DAHGWWMVC48</dc:identifier>
  <dcterms:modified xsi:type="dcterms:W3CDTF">2011-08-01T06:04:30Z</dcterms:modified>
  <cp:revision>1</cp:revision>
  <dc:title>Blue and Black Modern Technology Presentation</dc:title>
</cp:coreProperties>
</file>